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400000"/>
            <a:ext cx="7200000" cy="3400000"/>
          </a:xfrm>
          <a:prstGeom prst="roundRect">
            <a:avLst>
              <a:gd name="adj" fmla="val 6000"/>
            </a:avLst>
          </a:prstGeom>
          <a:solidFill>
            <a:srgbClr val="FFFCF5">
              <a:alpha val="86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550000"/>
            <a:ext cx="6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Segoe Print"/>
              </a:rPr>
              <a:t>FIELD NOTES  |  AI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1000000"/>
            <a:ext cx="680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標楷體"/>
              </a:rPr>
              <a:t>API 到 skill 到 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000" y="1850000"/>
            <a:ext cx="68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2937"/>
                </a:solidFill>
                <a:latin typeface="Microsoft JhengHei"/>
              </a:rPr>
              <a:t>以 AI HUB </a:t>
            </a:r>
            <a:r>
              <a:rPr sz="2000" b="0" dirty="0" err="1" smtClean="0">
                <a:solidFill>
                  <a:srgbClr val="1F2937"/>
                </a:solidFill>
                <a:latin typeface="Microsoft JhengHei"/>
              </a:rPr>
              <a:t>實作為例</a:t>
            </a:r>
            <a:r>
              <a:rPr lang="zh-TW" altLang="en-US" sz="2000" b="0" dirty="0" smtClean="0">
                <a:solidFill>
                  <a:srgbClr val="1F2937"/>
                </a:solidFill>
                <a:latin typeface="Microsoft JhengHei"/>
              </a:rPr>
              <a:t>，</a:t>
            </a:r>
            <a:r>
              <a:rPr sz="2000" b="0" dirty="0" err="1" smtClean="0">
                <a:solidFill>
                  <a:srgbClr val="1F2937"/>
                </a:solidFill>
                <a:latin typeface="Microsoft JhengHei"/>
              </a:rPr>
              <a:t>串接既有系統服務</a:t>
            </a:r>
            <a:endParaRPr sz="2000" b="0" dirty="0">
              <a:solidFill>
                <a:srgbClr val="1F2937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0000" y="2500000"/>
            <a:ext cx="680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C48A2B"/>
                </a:solidFill>
                <a:latin typeface="Segoe Print"/>
              </a:rPr>
              <a:t>speckit</a:t>
            </a:r>
            <a:r>
              <a:rPr sz="1800" b="1" dirty="0">
                <a:solidFill>
                  <a:srgbClr val="C48A2B"/>
                </a:solidFill>
                <a:latin typeface="Segoe Print"/>
              </a:rPr>
              <a:t>-</a:t>
            </a:r>
            <a:r>
              <a:rPr sz="1800" b="1" dirty="0" err="1">
                <a:solidFill>
                  <a:srgbClr val="C48A2B"/>
                </a:solidFill>
                <a:latin typeface="Segoe Print"/>
              </a:rPr>
              <a:t>api</a:t>
            </a:r>
            <a:r>
              <a:rPr sz="1800" b="1" dirty="0">
                <a:solidFill>
                  <a:srgbClr val="C48A2B"/>
                </a:solidFill>
                <a:latin typeface="Segoe Print"/>
              </a:rPr>
              <a:t>-to-</a:t>
            </a:r>
            <a:r>
              <a:rPr sz="1800" b="1" dirty="0" err="1">
                <a:solidFill>
                  <a:srgbClr val="C48A2B"/>
                </a:solidFill>
                <a:latin typeface="Segoe Print"/>
              </a:rPr>
              <a:t>mcp</a:t>
            </a:r>
            <a:endParaRPr sz="1800" b="1" dirty="0">
              <a:solidFill>
                <a:srgbClr val="C48A2B"/>
              </a:solidFill>
              <a:latin typeface="Segoe Print"/>
            </a:endParaRPr>
          </a:p>
          <a:p>
            <a:pPr algn="l"/>
            <a:r>
              <a:rPr sz="1500" b="0" dirty="0" err="1">
                <a:solidFill>
                  <a:srgbClr val="4B5563"/>
                </a:solidFill>
                <a:latin typeface="Microsoft JhengHei"/>
              </a:rPr>
              <a:t>既有系統</a:t>
            </a:r>
            <a:r>
              <a:rPr sz="1500" b="0" dirty="0">
                <a:solidFill>
                  <a:srgbClr val="4B5563"/>
                </a:solidFill>
                <a:latin typeface="Microsoft JhengHei"/>
              </a:rPr>
              <a:t> → </a:t>
            </a:r>
            <a:r>
              <a:rPr sz="1500" b="0" dirty="0" err="1">
                <a:solidFill>
                  <a:srgbClr val="4B5563"/>
                </a:solidFill>
                <a:latin typeface="Microsoft JhengHei"/>
              </a:rPr>
              <a:t>Speckit</a:t>
            </a:r>
            <a:r>
              <a:rPr sz="1500" b="0" dirty="0">
                <a:solidFill>
                  <a:srgbClr val="4B5563"/>
                </a:solidFill>
                <a:latin typeface="Microsoft JhengHei"/>
              </a:rPr>
              <a:t>/skill → 薄 API → </a:t>
            </a:r>
            <a:r>
              <a:rPr sz="1500" b="0" dirty="0" err="1">
                <a:solidFill>
                  <a:srgbClr val="4B5563"/>
                </a:solidFill>
                <a:latin typeface="Microsoft JhengHei"/>
              </a:rPr>
              <a:t>指南</a:t>
            </a:r>
            <a:r>
              <a:rPr sz="1500" b="0" dirty="0">
                <a:solidFill>
                  <a:srgbClr val="4B5563"/>
                </a:solidFill>
                <a:latin typeface="Microsoft JhengHei"/>
              </a:rPr>
              <a:t> → </a:t>
            </a:r>
            <a:r>
              <a:rPr sz="1500" b="0" dirty="0" smtClean="0">
                <a:solidFill>
                  <a:srgbClr val="4B5563"/>
                </a:solidFill>
                <a:latin typeface="Microsoft JhengHei"/>
              </a:rPr>
              <a:t>MCP</a:t>
            </a:r>
            <a:endParaRPr sz="1500" b="0" dirty="0">
              <a:solidFill>
                <a:srgbClr val="4B5563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00  | 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600" b="1" dirty="0" smtClean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  <a:endParaRPr sz="2600" b="1" dirty="0">
              <a:solidFill>
                <a:srgbClr val="1B365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000" y="1480000"/>
            <a:ext cx="11150000" cy="8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00" y="1660000"/>
            <a:ext cx="1000000" cy="46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000" y="1695000"/>
            <a:ext cx="100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0000" y="1620000"/>
            <a:ext cx="9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痛點與目的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0000" y="1960000"/>
            <a:ext cx="9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為什麼需要這條管線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2400000"/>
            <a:ext cx="11150000" cy="8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000" y="2580000"/>
            <a:ext cx="1000000" cy="46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000" y="2615000"/>
            <a:ext cx="100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0000" y="2540000"/>
            <a:ext cx="9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三個重點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0000" y="2880000"/>
            <a:ext cx="9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Skill → MCP → 授權分層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320000"/>
            <a:ext cx="11150000" cy="8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0000" y="3500000"/>
            <a:ext cx="1000000" cy="46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000" y="3535000"/>
            <a:ext cx="100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0000" y="3460000"/>
            <a:ext cx="9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Skill vs 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0000" y="3800000"/>
            <a:ext cx="9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差異、場景、拆分三問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000" y="4240000"/>
            <a:ext cx="11150000" cy="8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0000" y="4420000"/>
            <a:ext cx="1000000" cy="46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000" y="4455000"/>
            <a:ext cx="100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0000" y="4380000"/>
            <a:ext cx="9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管線詳解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0000" y="4720000"/>
            <a:ext cx="9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階段 0–8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5160000"/>
            <a:ext cx="11150000" cy="8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0000" y="5340000"/>
            <a:ext cx="1000000" cy="46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000" y="5375000"/>
            <a:ext cx="100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50000" y="5300000"/>
            <a:ext cx="9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開跑、案例、效益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0000" y="5640000"/>
            <a:ext cx="9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指令、適用與不適用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p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01  | 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Agent 會寫程式，但不會「用我們的系統」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500000"/>
            <a:ext cx="5500000" cy="2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0000" y="1750000"/>
            <a:ext cx="550000" cy="45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1785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1800000"/>
            <a:ext cx="4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重複開發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450000"/>
            <a:ext cx="5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4B5563"/>
                </a:solidFill>
                <a:latin typeface="Microsoft JhengHei"/>
              </a:rPr>
              <a:t>複製貼上越來越亂；API、文件、串接多套版本</a:t>
            </a:r>
            <a:r>
              <a:rPr sz="1600" b="0" dirty="0">
                <a:solidFill>
                  <a:srgbClr val="4B5563"/>
                </a:solidFill>
                <a:latin typeface="Microsoft Jheng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500000"/>
            <a:ext cx="5500000" cy="2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50000" y="1750000"/>
            <a:ext cx="550000" cy="45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0000" y="1785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000" y="1800000"/>
            <a:ext cx="4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Speckit 切入難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0000" y="2450000"/>
            <a:ext cx="5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系統上線中，不易判斷從哪裡下手最安全。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800000"/>
            <a:ext cx="5500000" cy="2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0000" y="4050000"/>
            <a:ext cx="550000" cy="45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0000" y="4085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000" y="4100000"/>
            <a:ext cx="4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文件難產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000" y="4750000"/>
            <a:ext cx="5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接口有了，但缺少人與 Agent 都讀得懂的指南。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0000" y="3800000"/>
            <a:ext cx="5500000" cy="2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50000" y="4050000"/>
            <a:ext cx="550000" cy="45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0000" y="4085000"/>
            <a:ext cx="5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000" y="4100000"/>
            <a:ext cx="4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標楷體"/>
              </a:rPr>
              <a:t>串接繁瑣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0000" y="4750000"/>
            <a:ext cx="5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規格一改，呼叫端、MCP、驗證都要手動同步。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purp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02  | 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600" b="1" dirty="0" smtClean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</a:t>
            </a:r>
            <a:r>
              <a:rPr lang="en-US" altLang="zh-TW" sz="2600" b="1" dirty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2600" b="1" dirty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模型協作方法，有效管理程式與文件</a:t>
            </a:r>
            <a:endParaRPr sz="2600" b="1" dirty="0">
              <a:solidFill>
                <a:srgbClr val="1B365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000" y="1500000"/>
            <a:ext cx="3600000" cy="90000"/>
          </a:xfrm>
          <a:prstGeom prst="rect">
            <a:avLst/>
          </a:prstGeom>
          <a:solidFill>
            <a:srgbClr val="0D948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D9488"/>
                </a:solidFill>
                <a:latin typeface="Segoe Print"/>
              </a:rPr>
              <a:t>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1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365D"/>
                </a:solidFill>
                <a:latin typeface="標楷體"/>
              </a:rPr>
              <a:t>管流程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800000"/>
            <a:ext cx="30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 smtClean="0">
                <a:solidFill>
                  <a:srgbClr val="1F2937"/>
                </a:solidFill>
                <a:latin typeface="Microsoft JhengHei"/>
              </a:rPr>
              <a:t>•</a:t>
            </a:r>
            <a:r>
              <a:rPr lang="en-US" sz="1600" b="0" dirty="0" smtClean="0">
                <a:solidFill>
                  <a:srgbClr val="1F2937"/>
                </a:solidFill>
                <a:latin typeface="Microsoft JhengHei"/>
              </a:rPr>
              <a:t>  </a:t>
            </a:r>
            <a:r>
              <a:rPr lang="zh-TW" altLang="en-US" sz="1600" dirty="0" smtClean="0">
                <a:solidFill>
                  <a:srgbClr val="1F2937"/>
                </a:solidFill>
                <a:latin typeface="Microsoft JhengHei"/>
              </a:rPr>
              <a:t>建立</a:t>
            </a:r>
            <a:r>
              <a:rPr lang="en-US" sz="1600" dirty="0" smtClean="0">
                <a:solidFill>
                  <a:srgbClr val="1F2937"/>
                </a:solidFill>
                <a:latin typeface="Microsoft JhengHei"/>
              </a:rPr>
              <a:t>SOP</a:t>
            </a:r>
            <a:endParaRPr sz="1600" b="0" dirty="0">
              <a:solidFill>
                <a:srgbClr val="1F2937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0000" y="3600000"/>
            <a:ext cx="30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F293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 </a:t>
            </a:r>
            <a:r>
              <a:rPr lang="en-US" altLang="zh-TW" sz="1600" dirty="0" smtClean="0">
                <a:solidFill>
                  <a:srgbClr val="1F2937"/>
                </a:solidFill>
                <a:latin typeface="Microsoft JhengHei"/>
              </a:rPr>
              <a:t>skill </a:t>
            </a:r>
            <a:r>
              <a:rPr lang="zh-TW" altLang="en-US" sz="1600" dirty="0">
                <a:solidFill>
                  <a:srgbClr val="1F2937"/>
                </a:solidFill>
                <a:latin typeface="Microsoft JhengHei"/>
              </a:rPr>
              <a:t>收成固定管線</a:t>
            </a:r>
            <a:endParaRPr sz="1600" b="0" dirty="0">
              <a:solidFill>
                <a:srgbClr val="1F293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000" y="44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規格變更可重跑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0000" y="1500000"/>
            <a:ext cx="3600000" cy="90000"/>
          </a:xfrm>
          <a:prstGeom prst="rect">
            <a:avLst/>
          </a:prstGeom>
          <a:solidFill>
            <a:srgbClr val="C48A2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0000" y="170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C48A2B"/>
                </a:solidFill>
                <a:latin typeface="Segoe Print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21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365D"/>
                </a:solidFill>
                <a:latin typeface="標楷體"/>
              </a:rPr>
              <a:t>管品質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000" y="28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先審計再動筆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0000" y="36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最小變動、新檔才寫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0000" y="44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禁止無故覆寫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0000" y="1500000"/>
            <a:ext cx="3600000" cy="90000"/>
          </a:xfrm>
          <a:prstGeom prst="rect">
            <a:avLst/>
          </a:prstGeom>
          <a:solidFill>
            <a:srgbClr val="1B365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0000" y="170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B365D"/>
                </a:solidFill>
                <a:latin typeface="Segoe Print"/>
              </a:rPr>
              <a:t>Artifacts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0000" y="21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365D"/>
                </a:solidFill>
                <a:latin typeface="標楷體"/>
              </a:rPr>
              <a:t>管產物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000" y="28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HTTP 薄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000" y="36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呼叫指南 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000" y="4400000"/>
            <a:ext cx="3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Microsoft JhengHei"/>
              </a:rPr>
              <a:t>•  Node.js MCP + dist/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03  |  Key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三件事串成一條可複製方法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0000" y="1750000"/>
            <a:ext cx="100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1785000"/>
            <a:ext cx="10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4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Segoe Print"/>
              </a:rPr>
              <a:t>Skill + Speckit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0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標楷體"/>
              </a:rPr>
              <a:t>最小變動建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370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既有系統利用 skill，套用 Speckit，薄封裝成標準接口。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00000" y="1750000"/>
            <a:ext cx="1000000" cy="48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0000" y="1785000"/>
            <a:ext cx="10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000" y="24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8A2B"/>
                </a:solidFill>
                <a:latin typeface="Segoe Print"/>
              </a:rPr>
              <a:t>Skill -&gt;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000" y="30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標楷體"/>
              </a:rPr>
              <a:t>AI 模型生成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370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依呼叫指南由模型生成 MCP，掛上 AI HUB / Cursor。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0000" y="1750000"/>
            <a:ext cx="1000000" cy="48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0000" y="1785000"/>
            <a:ext cx="10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000" y="24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egoe Print"/>
              </a:rPr>
              <a:t>Auth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0000" y="30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365D"/>
                </a:solidFill>
                <a:latin typeface="標楷體"/>
              </a:rPr>
              <a:t>OS / API /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0000" y="3700000"/>
            <a:ext cx="3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Microsoft JhengHei"/>
              </a:rPr>
              <a:t>各層只暴露完成任務所需的最小能力。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20000"/>
            <a:ext cx="11250000" cy="1000000"/>
          </a:xfrm>
          <a:prstGeom prst="roundRect">
            <a:avLst>
              <a:gd name="adj" fmla="val 6000"/>
            </a:avLst>
          </a:prstGeom>
          <a:solidFill>
            <a:srgbClr val="FFFCF5">
              <a:alpha val="86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28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03A  |  Skill vs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580000"/>
            <a:ext cx="10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標楷體"/>
              </a:rPr>
              <a:t>關鍵差異：SOP 大腦 vs 連接協定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380000"/>
            <a:ext cx="5400000" cy="72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52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Skill = Brain / SOP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0000" y="1380000"/>
            <a:ext cx="5000000" cy="72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00000" y="152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8A2B"/>
                </a:solidFill>
                <a:latin typeface="Segoe Print"/>
              </a:rPr>
              <a:t>MCP = Hands &amp; Eyes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2260000"/>
            <a:ext cx="54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00000" y="2260000"/>
            <a:ext cx="50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0000" y="2400000"/>
            <a:ext cx="120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000" y="2435000"/>
            <a:ext cx="1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Print"/>
              </a:rPr>
              <a:t>Essence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0000" y="2440000"/>
            <a:ext cx="3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思維與 SOP 指引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000" y="2440000"/>
            <a:ext cx="4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連接與工具協定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040000"/>
            <a:ext cx="54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00000" y="3040000"/>
            <a:ext cx="50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0000" y="3180000"/>
            <a:ext cx="120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0000" y="3215000"/>
            <a:ext cx="1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Print"/>
              </a:rPr>
              <a:t>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0000" y="3220000"/>
            <a:ext cx="3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Prompt /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0000" y="3220000"/>
            <a:ext cx="4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Protocol / 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" y="3820000"/>
            <a:ext cx="54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00000" y="3820000"/>
            <a:ext cx="50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00000" y="3960000"/>
            <a:ext cx="120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0000" y="3995000"/>
            <a:ext cx="1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Print"/>
              </a:rPr>
              <a:t>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0000" y="4000000"/>
            <a:ext cx="3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教模型「如何做」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000" y="4000000"/>
            <a:ext cx="4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讓模型「連結到」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000" y="4600000"/>
            <a:ext cx="54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600000" y="4600000"/>
            <a:ext cx="50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00000" y="4740000"/>
            <a:ext cx="120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0000" y="4775000"/>
            <a:ext cx="1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Print"/>
              </a:rPr>
              <a:t>How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0000" y="4780000"/>
            <a:ext cx="3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Markdown 指引推論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0000" y="4780000"/>
            <a:ext cx="4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JSON-RPC Client-Server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000" y="5380000"/>
            <a:ext cx="54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00000" y="5380000"/>
            <a:ext cx="5000000" cy="7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00000" y="5520000"/>
            <a:ext cx="120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0000" y="5555000"/>
            <a:ext cx="1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Print"/>
              </a:rPr>
              <a:t>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0000" y="5560000"/>
            <a:ext cx="3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輕量、主要 Stateless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0000" y="5560000"/>
            <a:ext cx="4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進程/Server，可 Stateful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03B  |  When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何時用 Skill？何時用 MCP？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500000"/>
            <a:ext cx="5500000" cy="46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000" y="1500000"/>
            <a:ext cx="5500000" cy="70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165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Skill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24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領域分析與寫作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281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Code Review 規範、品牌文案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330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多步驟推論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366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拆解 → 驗證 → 結論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1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範本與結構化輸出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451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Weekly Report、ADR、API 文件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000" y="500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引導式對話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000" y="536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教學、面試模擬、診斷問答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000" y="1500000"/>
            <a:ext cx="5500000" cy="46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0000" y="1500000"/>
            <a:ext cx="5500000" cy="700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0000" y="165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MCP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0000" y="24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外部資料源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0000" y="281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GitHub / DB / Notion / Jira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0000" y="330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系統操作（副作用）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0000" y="366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Terminal、PR、Email、CI/CD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0000" y="41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動態 API 整合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0000" y="451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即時資料、報價、地理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0000" y="500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跨系統串接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0000" y="5360000"/>
            <a:ext cx="5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A 輸出 → 轉換 → 寫入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03C  |  Split &amp; Combine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MCP=手眼；Skill=大腦 SOP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50000"/>
            <a:ext cx="5800000" cy="46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60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9488"/>
                </a:solidFill>
                <a:latin typeface="Segoe Print"/>
              </a:rPr>
              <a:t>Decision tree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2150000"/>
            <a:ext cx="520000" cy="46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000" y="2185000"/>
            <a:ext cx="52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215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標楷體"/>
              </a:rPr>
              <a:t>有系統副作用或資料存取？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000" y="260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是 → MCP Server；否 → 下一問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350000"/>
            <a:ext cx="520000" cy="46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000" y="3385000"/>
            <a:ext cx="52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335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標楷體"/>
              </a:rPr>
              <a:t>需要思考順序／檢核／輸出格式？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0000" y="380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是 → Skill；否 → 標準 System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550000"/>
            <a:ext cx="520000" cy="46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000" y="4585000"/>
            <a:ext cx="5200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000" y="455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標楷體"/>
              </a:rPr>
              <a:t>先抓資料 → 依邏輯處理 → 寫回？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000" y="5000000"/>
            <a:ext cx="4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是 → Skill + MCP 組合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0000" y="1450000"/>
            <a:ext cx="5100000" cy="21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00000" y="1550000"/>
            <a:ext cx="4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Segoe Print"/>
              </a:rPr>
              <a:t>Architecture 怎麼講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000" y="1880000"/>
            <a:ext cx="4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腦：Skill 規定「怎麼想、怎麼做」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手眼：MCP 負責「連到哪、呼叫什麼」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外系：DB / 既有 API 只暴露最小能力</a:t>
            </a:r>
          </a:p>
          <a:p>
            <a:pPr algn="l"/>
            <a:r>
              <a:rPr sz="1400" b="1">
                <a:solidFill>
                  <a:srgbClr val="1B365D"/>
                </a:solidFill>
                <a:latin typeface="Microsoft JhengHei"/>
              </a:rPr>
              <a:t>一句話：Skill 決策，MCP 執行，系統給資料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0000" y="3750000"/>
            <a:ext cx="5100000" cy="23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8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00000" y="3850000"/>
            <a:ext cx="4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8A2B"/>
                </a:solidFill>
                <a:latin typeface="Segoe Print"/>
              </a:rPr>
              <a:t>Example: Code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0000" y="4200000"/>
            <a:ext cx="47000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場景：要幫 PR 做 Code Review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MCP：get_pr_diff / post_comment（連 GitHub）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Skill：Style Guide、安全清單、回覆格式</a:t>
            </a:r>
          </a:p>
          <a:p>
            <a:pPr algn="l"/>
            <a:r>
              <a:rPr sz="1400" b="1">
                <a:solidFill>
                  <a:srgbClr val="C48A2B"/>
                </a:solidFill>
                <a:latin typeface="Microsoft JhengHei"/>
              </a:rPr>
              <a:t>口訣：SOP 變→改 Skill；API 變→改 MCP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Microsoft JhengHei"/>
              </a:rPr>
              <a:t>切勿：SOP 不寫進 MCP；API 細節不塞進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20000"/>
            <a:ext cx="11250000" cy="1000000"/>
          </a:xfrm>
          <a:prstGeom prst="roundRect">
            <a:avLst>
              <a:gd name="adj" fmla="val 6000"/>
            </a:avLst>
          </a:prstGeom>
          <a:solidFill>
            <a:srgbClr val="FFFCF5">
              <a:alpha val="86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28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04  | 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580000"/>
            <a:ext cx="10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 smtClean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拆</a:t>
            </a:r>
            <a:r>
              <a:rPr lang="zh-TW" altLang="en-US" sz="2400" b="1" dirty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解痛</a:t>
            </a:r>
            <a:r>
              <a:rPr lang="zh-TW" altLang="en-US" sz="2400" b="1" dirty="0" smtClean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點，將工作分為</a:t>
            </a:r>
            <a:r>
              <a:rPr sz="2400" b="1" dirty="0" smtClean="0">
                <a:solidFill>
                  <a:srgbClr val="1B365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sz="2400" b="1" dirty="0" smtClean="0">
                <a:solidFill>
                  <a:srgbClr val="1B365D"/>
                </a:solidFill>
                <a:latin typeface="標楷體"/>
              </a:rPr>
              <a:t>9 </a:t>
            </a:r>
            <a:r>
              <a:rPr sz="2400" b="1" dirty="0" err="1">
                <a:solidFill>
                  <a:srgbClr val="1B365D"/>
                </a:solidFill>
                <a:latin typeface="標楷體"/>
              </a:rPr>
              <a:t>個階段</a:t>
            </a:r>
            <a:endParaRPr sz="2400" b="1" dirty="0">
              <a:solidFill>
                <a:srgbClr val="1B365D"/>
              </a:solidFill>
              <a:latin typeface="標楷體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Speckit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5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Guide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6-7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0000" y="1400000"/>
            <a:ext cx="1700000" cy="11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50000" y="1480000"/>
            <a:ext cx="1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0000" y="1950000"/>
            <a:ext cx="1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65D"/>
                </a:solidFill>
                <a:latin typeface="Segoe Print"/>
              </a:rPr>
              <a:t>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0000" y="3200000"/>
            <a:ext cx="5500000" cy="28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000" y="3350000"/>
            <a:ext cx="5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Front half: long-term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000" y="385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先讀 constitution 與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000" y="433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已涵蓋則跳過；部分只補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000" y="481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禁止整份覆寫、--force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000" y="5290000"/>
            <a:ext cx="50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Speckit 詳、Rule 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00000" y="3200000"/>
            <a:ext cx="4900000" cy="28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00000" y="3350000"/>
            <a:ext cx="4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8A2B"/>
                </a:solidFill>
                <a:latin typeface="Segoe Print"/>
              </a:rPr>
              <a:t>Back half: three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00" y="3850000"/>
            <a:ext cx="4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HTTP 薄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000" y="4330000"/>
            <a:ext cx="4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每功能一份指南 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0000" y="4810000"/>
            <a:ext cx="4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Node.js MCP（stdio）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00" y="5290000"/>
            <a:ext cx="4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dist/*.mjs + package.json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05  |  Key 1 / Stages 0–3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階段 0～3：先審計、找安全切入點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00000"/>
            <a:ext cx="11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Microsoft JhengHei"/>
              </a:rPr>
              <a:t>管線前半（階段 0～3）：先讀再寫 → 已涵蓋則跳過 → 部分只補 → 沒有才新建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900000"/>
            <a:ext cx="11150000" cy="9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0000" y="2100000"/>
            <a:ext cx="75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000" y="2135000"/>
            <a:ext cx="7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000" y="204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階段 0  Speckit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000" y="240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確認／導入；未完成不得進階段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00" y="2950000"/>
            <a:ext cx="11150000" cy="9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0000" y="3150000"/>
            <a:ext cx="750000" cy="48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000" y="3185000"/>
            <a:ext cx="7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000" y="309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階段 1  Constitution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000" y="345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技術梭、呼叫／回傳格式就緒；已有不重寫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0000" y="4000000"/>
            <a:ext cx="11150000" cy="9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50000" y="4200000"/>
            <a:ext cx="750000" cy="48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000" y="4235000"/>
            <a:ext cx="7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000" y="414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階段 2  Architecture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000" y="450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結構、DB、控制器、工具、慣例；精簡不重複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" y="5050000"/>
            <a:ext cx="11150000" cy="92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0000" y="5250000"/>
            <a:ext cx="750000" cy="48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000" y="5285000"/>
            <a:ext cx="75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000" y="519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階段 3  API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000" y="5550000"/>
            <a:ext cx="9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五條約束生效；長期記憶僅缺漏才補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06  |  Key 1 / Stage 4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1B365D"/>
                </a:solidFill>
                <a:latin typeface="標楷體"/>
              </a:rPr>
              <a:t>階段</a:t>
            </a:r>
            <a:r>
              <a:rPr sz="2600" b="1" dirty="0">
                <a:solidFill>
                  <a:srgbClr val="1B365D"/>
                </a:solidFill>
                <a:latin typeface="標楷體"/>
              </a:rPr>
              <a:t> 4：五條硬約束（薄封裝，不重構）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50000"/>
            <a:ext cx="11150000" cy="86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0000" y="163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000" y="166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50000" y="157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Segoe Print"/>
              </a:rPr>
              <a:t>New files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0000" y="1910000"/>
            <a:ext cx="10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新建程式碼獨立新檔，不汙染既有內容。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0000" y="2400000"/>
            <a:ext cx="11150000" cy="86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0000" y="258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000" y="261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0000" y="25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Segoe Print"/>
              </a:rPr>
              <a:t>Reuse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0000" y="2860000"/>
            <a:ext cx="10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驗證、紀錄查詢須呼叫現成函式。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00" y="3350000"/>
            <a:ext cx="11150000" cy="86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0000" y="353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000" y="356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0000" y="347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Segoe Print"/>
              </a:rPr>
              <a:t>No DB schema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0000" y="3810000"/>
            <a:ext cx="10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不加表不改欄；僅組既有邏輯建 API。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000" y="4300000"/>
            <a:ext cx="11150000" cy="86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0000" y="448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000" y="451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0000" y="442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Segoe Print"/>
              </a:rPr>
              <a:t>Reuse ViewModel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0000" y="4760000"/>
            <a:ext cx="10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有現成就用，不另起一套模型。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5250000"/>
            <a:ext cx="11150000" cy="86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0000" y="543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000" y="546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0000" y="537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Segoe Print"/>
              </a:rPr>
              <a:t>Ask before refactor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0000" y="5710000"/>
            <a:ext cx="10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共通程式有誤／慢，不可直接改。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07  |  Key 2 / Call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階段 5：呼叫指南—解決文件難產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00000"/>
            <a:ext cx="11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JhengHei"/>
              </a:rPr>
              <a:t>每功能一份 md；先詢 Base URL（勿假設 port）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00" y="1850000"/>
            <a:ext cx="27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0000" y="20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0000" y="20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2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Basic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" y="29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基本資訊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00" y="335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Base URL、回應格式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0000" y="1850000"/>
            <a:ext cx="27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00000" y="20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00000" y="20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2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000" y="29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端點說明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335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Method / path / 依賴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1850000"/>
            <a:ext cx="27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50000" y="20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000" y="20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2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29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必要參數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335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名、型、模式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0000" y="1850000"/>
            <a:ext cx="27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00000" y="20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00000" y="20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0000" y="2550000"/>
            <a:ext cx="2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0000" y="29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回應欄位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0000" y="3350000"/>
            <a:ext cx="2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欄位與說明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000" y="4050000"/>
            <a:ext cx="36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50000" y="42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0000" y="42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000" y="475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Limits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000" y="51000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限制規則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000" y="55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All-or-Nothing、上限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00000" y="4050000"/>
            <a:ext cx="36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50000" y="42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50000" y="42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0000" y="475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0000" y="51000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使用流程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0000" y="55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步驟說明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00000" y="4050000"/>
            <a:ext cx="3600000" cy="20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50000" y="4250000"/>
            <a:ext cx="750000" cy="42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50000" y="4285000"/>
            <a:ext cx="75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Print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0000" y="4750000"/>
            <a:ext cx="3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Segoe Print"/>
              </a:rPr>
              <a:t>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0000" y="5100000"/>
            <a:ext cx="33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標楷體"/>
              </a:rPr>
              <a:t>注意事項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50000" y="5550000"/>
            <a:ext cx="3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易錯點與限制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08  |  Key 2 / MCP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階段 6–8：AI 生成 MCP 並驗證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000" y="1500000"/>
            <a:ext cx="3600000" cy="8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0000" y="1700000"/>
            <a:ext cx="3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Segoe Print"/>
              </a:rPr>
              <a:t>6  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" y="24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讀全部呼叫指南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30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Node.js + stdio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36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預留 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42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與指南同資料夾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8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port 預設 8895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0000" y="1500000"/>
            <a:ext cx="3600000" cy="80000"/>
          </a:xfrm>
          <a:prstGeom prst="rect">
            <a:avLst/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0000" y="1700000"/>
            <a:ext cx="3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48A2B"/>
                </a:solidFill>
                <a:latin typeface="Segoe Print"/>
              </a:rPr>
              <a:t>7  Build dist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0000" y="24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多檔 tsc 輸出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0000" y="30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dist/*.mjs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0000" y="36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含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0000" y="42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可供其他模型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0000" y="48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非單一 IDE 外掛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0000" y="1500000"/>
            <a:ext cx="3600000" cy="45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0000" y="1500000"/>
            <a:ext cx="3600000" cy="80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0000" y="1700000"/>
            <a:ext cx="3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65D"/>
                </a:solidFill>
                <a:latin typeface="Segoe Print"/>
              </a:rPr>
              <a:t>8 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0000" y="24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參數不可膺造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0000" y="30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依 Base URL 分流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0000" y="36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非本地直接測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0000" y="42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失敗才開本地站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0000" y="480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可故意給錯值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l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20000"/>
            <a:ext cx="11250000" cy="1000000"/>
          </a:xfrm>
          <a:prstGeom prst="roundRect">
            <a:avLst>
              <a:gd name="adj" fmla="val 6000"/>
            </a:avLst>
          </a:prstGeom>
          <a:solidFill>
            <a:srgbClr val="FFFCF5">
              <a:alpha val="86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28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09  |  Auth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580000"/>
            <a:ext cx="10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標楷體"/>
              </a:rPr>
              <a:t>授權分層：OS、API、MCP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50000"/>
            <a:ext cx="3600000" cy="46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00000" y="1650000"/>
            <a:ext cx="120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00000" y="1685000"/>
            <a:ext cx="1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3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65D"/>
                </a:solidFill>
                <a:latin typeface="標楷體"/>
              </a:rPr>
              <a:t>作業系統層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00" y="29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執行環境與邊界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000" y="35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程序隔離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42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誰能跑 MCP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48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防止跨層操作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0000" y="1450000"/>
            <a:ext cx="3600000" cy="46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500000" y="1650000"/>
            <a:ext cx="1200000" cy="48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0000" y="1685000"/>
            <a:ext cx="1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00" y="23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65D"/>
                </a:solidFill>
                <a:latin typeface="標楷體"/>
              </a:rPr>
              <a:t>服務 API 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0000" y="29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IP 白名單政策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0000" y="35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業務身分權限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0000" y="42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只暴露薄接口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0000" y="48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不改 schema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0000" y="1450000"/>
            <a:ext cx="3600000" cy="46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300000" y="1650000"/>
            <a:ext cx="1200000" cy="48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0000" y="1685000"/>
            <a:ext cx="1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000" y="230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B365D"/>
                </a:solidFill>
                <a:latin typeface="標楷體"/>
              </a:rPr>
              <a:t>MCP / AI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0000" y="29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工具清單=允許動作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0000" y="35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參數可驗證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0000" y="420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Bearer + UserId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0000" y="4850000"/>
            <a:ext cx="31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Microsoft JhengHei"/>
              </a:rPr>
              <a:t>•  不繞過、不代操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r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10  |  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必須手動呼叫 skill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50000"/>
            <a:ext cx="11150000" cy="1100000"/>
          </a:xfrm>
          <a:prstGeom prst="roundRect">
            <a:avLst>
              <a:gd name="adj" fmla="val 6000"/>
            </a:avLst>
          </a:prstGeom>
          <a:solidFill>
            <a:srgbClr val="1B365D">
              <a:alpha val="92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55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Segoe Print"/>
              </a:rPr>
              <a:t>Command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900000"/>
            <a:ext cx="10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JhengHei"/>
              </a:rPr>
              <a:t>/speckit-api-to-mcp  新增 API，提供...功能，可指定...作為參數，輸出...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2800000"/>
            <a:ext cx="5500000" cy="1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0000" y="305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00" y="308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0000" y="3100000"/>
            <a:ext cx="4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egoe Print"/>
              </a:rPr>
              <a:t>Base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3650000"/>
            <a:ext cx="50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站台位置；沒給才從專案設定推斷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0000" y="2800000"/>
            <a:ext cx="5500000" cy="1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50000" y="305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0000" y="308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0" y="3100000"/>
            <a:ext cx="4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egoe Print"/>
              </a:rPr>
              <a:t>MCP 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000" y="3650000"/>
            <a:ext cx="50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預留 SSE；未指定預設 8895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4500000"/>
            <a:ext cx="5500000" cy="1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0000" y="475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000" y="478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0000" y="4800000"/>
            <a:ext cx="4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egoe Print"/>
              </a:rPr>
              <a:t>Output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" y="5350000"/>
            <a:ext cx="50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指南與 MCP 同目錄（MCP/）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0000" y="4500000"/>
            <a:ext cx="5500000" cy="15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50000" y="4750000"/>
            <a:ext cx="580000" cy="48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0000" y="4785000"/>
            <a:ext cx="58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0" y="4800000"/>
            <a:ext cx="4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Segoe Print"/>
              </a:rPr>
              <a:t>Verify params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0000" y="5350000"/>
            <a:ext cx="50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不可膺造；可故意給錯值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llust_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4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2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11  |  Case &amp;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4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會議室已走過；帶走三項能力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00000"/>
            <a:ext cx="11150000" cy="720000"/>
          </a:xfrm>
          <a:prstGeom prst="roundRect">
            <a:avLst>
              <a:gd name="adj" fmla="val 6000"/>
            </a:avLst>
          </a:prstGeom>
          <a:solidFill>
            <a:srgbClr val="1B365D">
              <a:alpha val="92000"/>
            </a:srgbClr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000" y="1550000"/>
            <a:ext cx="105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Print"/>
              </a:rPr>
              <a:t>AI HUB/Cursor MCP  -&gt;  IP whitelist  -&gt;  api/MeetingRoom*  -&gt; 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0D9488">
              <a:alpha val="90000"/>
            </a:srgbClr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查空房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0D9488">
              <a:alpha val="90000"/>
            </a:srgbClr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查預約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0D9488">
              <a:alpha val="90000"/>
            </a:srgbClr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我的預約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F3F4F6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Microsoft JhengHei"/>
              </a:rPr>
              <a:t>單筆預約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F3F4F6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Microsoft JhengHei"/>
              </a:rPr>
              <a:t>單筆取消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F3F4F6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Microsoft JhengHei"/>
              </a:rPr>
              <a:t>批次預約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0000" y="2280000"/>
            <a:ext cx="1500000" cy="520000"/>
          </a:xfrm>
          <a:prstGeom prst="roundRect">
            <a:avLst>
              <a:gd name="adj" fmla="val 6000"/>
            </a:avLst>
          </a:prstGeom>
          <a:solidFill>
            <a:srgbClr val="F3F4F6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00000" y="2400000"/>
            <a:ext cx="1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365D"/>
                </a:solidFill>
                <a:latin typeface="Microsoft JhengHei"/>
              </a:rPr>
              <a:t>批次取消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000" y="2980000"/>
            <a:ext cx="3600000" cy="12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0000" y="312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000" y="315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0000" y="318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Segoe Print"/>
              </a:rPr>
              <a:t>Skill 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000" y="36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會寫、約束、審計；可重跑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0000" y="2980000"/>
            <a:ext cx="3600000" cy="12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50000" y="312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50000" y="315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0000" y="318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Segoe Print"/>
              </a:rPr>
              <a:t>MCP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0000" y="36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何時掛、何時只要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0000" y="2980000"/>
            <a:ext cx="3600000" cy="1200000"/>
          </a:xfrm>
          <a:prstGeom prst="roundRect">
            <a:avLst>
              <a:gd name="adj" fmla="val 6000"/>
            </a:avLst>
          </a:prstGeom>
          <a:solidFill>
            <a:srgbClr val="FFFCF5">
              <a:alpha val="90000"/>
            </a:srgbClr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50000" y="312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0000" y="315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0000" y="3180000"/>
            <a:ext cx="2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Segoe Print"/>
              </a:rPr>
              <a:t>Fast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0000" y="3650000"/>
            <a:ext cx="3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Microsoft JhengHei"/>
              </a:rPr>
              <a:t>指南 → 生成 → dist → 驗證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0000" y="4400000"/>
            <a:ext cx="5500000" cy="1650000"/>
          </a:xfrm>
          <a:prstGeom prst="roundRect">
            <a:avLst>
              <a:gd name="adj" fmla="val 6000"/>
            </a:avLst>
          </a:prstGeom>
          <a:solidFill>
            <a:srgbClr val="ECFDF5">
              <a:alpha val="90000"/>
            </a:srgbClr>
          </a:solidFill>
          <a:ln w="15875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0000" y="4550000"/>
            <a:ext cx="5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5F46"/>
                </a:solidFill>
                <a:latin typeface="Segoe Print"/>
              </a:rPr>
              <a:t>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000" y="4950000"/>
            <a:ext cx="50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65F46"/>
                </a:solidFill>
                <a:latin typeface="Microsoft JhengHei"/>
              </a:rPr>
              <a:t>• 舊系統要給 Agent 呼叫
• 邏輯已在，只需標準接口
• 可攜專案且不覆蓋 constitution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00000" y="4400000"/>
            <a:ext cx="4900000" cy="1650000"/>
          </a:xfrm>
          <a:prstGeom prst="roundRect">
            <a:avLst>
              <a:gd name="adj" fmla="val 6000"/>
            </a:avLst>
          </a:prstGeom>
          <a:solidFill>
            <a:srgbClr val="FEF2F2">
              <a:alpha val="90000"/>
            </a:srgbClr>
          </a:solidFill>
          <a:ln w="1587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00000" y="4550000"/>
            <a:ext cx="45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91B1B"/>
                </a:solidFill>
                <a:latin typeface="Segoe Print"/>
              </a:rPr>
              <a:t>Not a 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0000" y="4950000"/>
            <a:ext cx="4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1B1B"/>
                </a:solidFill>
                <a:latin typeface="Microsoft JhengHei"/>
              </a:rPr>
              <a:t>• 要改表、大重構、從零做
• 只是改 UI／內部 MVC
• 期望 Agent 自動觸發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20000"/>
            <a:ext cx="11250000" cy="10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30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11A  |  Ultimate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6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標楷體"/>
              </a:rPr>
              <a:t>把劣勢變為優勢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00000"/>
            <a:ext cx="11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B5563"/>
                </a:solidFill>
                <a:latin typeface="Microsoft JhengHei"/>
              </a:rPr>
              <a:t>當系統、文件又大又多又雜——不是包裝，而是讓 Agent 反向利用這些「多」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000" y="1900000"/>
            <a:ext cx="5600000" cy="19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000" y="210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00" y="213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0000" y="2120000"/>
            <a:ext cx="4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反向利用大量程式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265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JhengHei"/>
              </a:rPr>
              <a:t>由 Agent 建立 Speckit 開發環境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" y="3050000"/>
            <a:ext cx="5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程式越多越能推斷架構、慣例與邏輯，鑄造可重複的開發記憶。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1900000"/>
            <a:ext cx="5600000" cy="19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80000" y="210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C4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0000" y="213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000" y="2120000"/>
            <a:ext cx="4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Skill 審計最小化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265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8A2B"/>
                </a:solidFill>
                <a:latin typeface="Microsoft JhengHei"/>
              </a:rPr>
              <a:t>新程式與既有系統的交互作用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3050000"/>
            <a:ext cx="5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先讀再寫、缺漏才補；用約束把變動鏈在最小範圍。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000" y="4000000"/>
            <a:ext cx="5600000" cy="19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0000" y="420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000" y="423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0000" y="4220000"/>
            <a:ext cx="4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反向利用既存文件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" y="475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65D"/>
                </a:solidFill>
                <a:latin typeface="Microsoft JhengHei"/>
              </a:rPr>
              <a:t>統一規格與呼叫語言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" y="5150000"/>
            <a:ext cx="5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文件越雜越需要 Agent 澄清、對齊，變成人與 Agent 都讀得懂的指南。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0000" y="4000000"/>
            <a:ext cx="5600000" cy="195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80000" y="4200000"/>
            <a:ext cx="520000" cy="42000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80000" y="4235000"/>
            <a:ext cx="52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Print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000" y="4220000"/>
            <a:ext cx="45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365D"/>
                </a:solidFill>
                <a:latin typeface="標楷體"/>
              </a:rPr>
              <a:t>建立薄封裝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475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Microsoft JhengHei"/>
              </a:rPr>
              <a:t>全面支援其他 Agent 呼叫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5150000"/>
            <a:ext cx="52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不重構舊系統；用標準接口 + MCP，讓多個 Agent 共用同一能力。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0000" y="220000"/>
            <a:ext cx="11250000" cy="98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0000" y="280000"/>
            <a:ext cx="10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Segoe Print"/>
              </a:rPr>
              <a:t>12  |  Notes /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0000" y="560000"/>
            <a:ext cx="105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65D"/>
                </a:solidFill>
                <a:latin typeface="標楷體"/>
              </a:rPr>
              <a:t>備註：MCP 傳輸模式 stdio vs 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0000" y="1380000"/>
            <a:ext cx="5650000" cy="38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0000" y="1380000"/>
            <a:ext cx="5650000" cy="62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000" y="1480000"/>
            <a:ext cx="52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stdio（首選）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" y="215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標楷體"/>
              </a:rPr>
              <a:t>特性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25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平台啟動子進程，stdin/stdout 通訊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282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不開網路埠；生命週期隨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14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本專案預設；Cursor / AI HUB 同模型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" y="355000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標楷體"/>
              </a:rPr>
              <a:t>建議場景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390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AI HUB、Cursor 等支援 stdio 匯入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22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平台能 spawn 進程（同機/同信任邊界）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454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單 session 對應一 MCP；本機開發驗證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000" y="1380000"/>
            <a:ext cx="5500000" cy="3800000"/>
          </a:xfrm>
          <a:prstGeom prst="roundRect">
            <a:avLst>
              <a:gd name="adj" fmla="val 6000"/>
            </a:avLst>
          </a:prstGeom>
          <a:solidFill>
            <a:srgbClr val="FFFCF5"/>
          </a:solidFill>
          <a:ln w="15875">
            <a:solidFill>
              <a:srgbClr val="C4B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000" y="1380000"/>
            <a:ext cx="5500000" cy="620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0000" y="1480000"/>
            <a:ext cx="5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Print"/>
              </a:rPr>
              <a:t>SSE / HTTP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215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8A2B"/>
                </a:solidFill>
                <a:latin typeface="標楷體"/>
              </a:rPr>
              <a:t>特性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0000" y="25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常駐 HTTP（預設 8895），URL 連線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0000" y="28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可多客戶端共用同一實例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0000" y="314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•  須維運埠、防火牆與連線安全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3550000"/>
            <a:ext cx="5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8A2B"/>
                </a:solidFill>
                <a:latin typeface="標楷體"/>
              </a:rPr>
              <a:t>建議場景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0000" y="39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平台不能/不願 spawn，只能連 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0000" y="42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多客戶端需共用同一常駐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0000" y="454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JhengHei"/>
              </a:rPr>
              <a:t>•  有 stdio 匯入時不用 SSE（多一層風險）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000" y="5350000"/>
            <a:ext cx="11450000" cy="950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0000" y="55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標楷體"/>
              </a:rPr>
              <a:t>一句話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000" y="585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JhengHei"/>
              </a:rPr>
              <a:t>能 stdio 匯入（含 AI HUB）→ 用 stdio；只能連 URL、不能起子進程 → 才考慮 SSE。「遠端平台」不等於一定要 SSE。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000" y="6480000"/>
            <a:ext cx="9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Print"/>
              </a:rPr>
              <a:t>API -&gt; skill -&gt; MCP  |  AI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00" y="6480000"/>
            <a:ext cx="1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Microsoft Jheng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1346</Words>
  <Application>Microsoft Office PowerPoint</Application>
  <PresentationFormat>寬螢幕</PresentationFormat>
  <Paragraphs>370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微軟正黑體</vt:lpstr>
      <vt:lpstr>微軟正黑體</vt:lpstr>
      <vt:lpstr>新細明體</vt:lpstr>
      <vt:lpstr>標楷體</vt:lpstr>
      <vt:lpstr>Arial</vt:lpstr>
      <vt:lpstr>Calibri</vt:lpstr>
      <vt:lpstr>Segoe Print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楊懿秦</cp:lastModifiedBy>
  <cp:revision>8</cp:revision>
  <dcterms:created xsi:type="dcterms:W3CDTF">2013-01-27T09:14:16Z</dcterms:created>
  <dcterms:modified xsi:type="dcterms:W3CDTF">2026-10-07T02:00:30Z</dcterms:modified>
  <cp:category/>
</cp:coreProperties>
</file>